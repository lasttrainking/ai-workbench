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问答链路各阶段平均耗时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平均耗时 (ms)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网关鉴权</c:v>
                </c:pt>
                <c:pt idx="1">
                  <c:v>意图识别</c:v>
                </c:pt>
                <c:pt idx="2">
                  <c:v>实体链接</c:v>
                </c:pt>
                <c:pt idx="3">
                  <c:v>图谱检索</c:v>
                </c:pt>
                <c:pt idx="4">
                  <c:v>语义重排</c:v>
                </c:pt>
                <c:pt idx="5">
                  <c:v>答案组装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96</c:v>
                </c:pt>
                <c:pt idx="2">
                  <c:v>88</c:v>
                </c:pt>
                <c:pt idx="3">
                  <c:v>210</c:v>
                </c:pt>
                <c:pt idx="4">
                  <c:v>320</c:v>
                </c:pt>
                <c:pt idx="5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BM25 基线 vs 本文方法：效果与时延对比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BM25 基线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Top-1 准确率</c:v>
                </c:pt>
                <c:pt idx="1">
                  <c:v>MRR</c:v>
                </c:pt>
                <c:pt idx="2">
                  <c:v>P95 时延 (s)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0.51</c:v>
                </c:pt>
                <c:pt idx="2">
                  <c:v>1.86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本文方法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Top-1 准确率</c:v>
                </c:pt>
                <c:pt idx="1">
                  <c:v>MRR</c:v>
                </c:pt>
                <c:pt idx="2">
                  <c:v>P95 时延 (s)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</c:v>
                </c:pt>
                <c:pt idx="1">
                  <c:v>0.69</c:v>
                </c:pt>
                <c:pt idx="2">
                  <c:v>1.32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封面：毕业设计答辩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题目：基于深度学习与知识图谱的智能问答系统</a:t>
            </a:r>
          </a:p>
          <a:p>
            <a:r>
              <a:t>答辩人：计算机学院 2026 届本科毕业生</a:t>
            </a:r>
          </a:p>
          <a:p>
            <a:r>
              <a:t>指导教师：××× 副教授</a:t>
            </a:r>
          </a:p>
          <a:p>
            <a:r>
              <a:t>答辩日期：2026-06-XX</a:t>
            </a:r>
          </a:p>
          <a:p>
            <a:r>
              <a:t>汇报 12 分钟 + 问答 3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汇报路线（15 分钟四段式）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一、背景与目标（2.5 min，2 页）：研究问题、研究现状与本文定位</a:t>
            </a:r>
          </a:p>
          <a:p>
            <a:r>
              <a:t>二、系统与数据（5 min，4 页）：系统架构、关键流程、数据库设计</a:t>
            </a:r>
          </a:p>
          <a:p>
            <a:r>
              <a:t>三、AI 模块与验证（4.5 min，3 页）：AI 模块设计、效果评测、实现与测试</a:t>
            </a:r>
          </a:p>
          <a:p>
            <a:r>
              <a:t>四、结论与展望（1.5 min，1 页）：结论、创新点、后续工作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痛点：人工答疑响应慢；检索式问答语义泛化弱；知识分散无统一表示</a:t>
            </a:r>
          </a:p>
          <a:p>
            <a:r>
              <a:rPr sz="1100"/>
              <a:t>目标：知识图谱保证事实准确 + 语义匹配保证泛化，支持多轮追问与答案溯源</a:t>
            </a:r>
          </a:p>
          <a:p>
            <a:r>
              <a:rPr sz="1100"/>
              <a:t>量化指标：单轮延迟 &lt; 1.5 s，Top-1 准确率 ≥ 0.75，答案可溯源率 100%</a:t>
            </a:r>
          </a:p>
          <a:p>
            <a:r>
              <a:rPr sz="1100"/>
              <a:t>【图表】问题—需求映射表（痛点 / 影响 / 本文对策）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763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r>
                        <a:rPr sz="1000" b="1"/>
                        <a:t>痛点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造成的影响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本文对策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 b="0"/>
                        <a:t>人工答疑响应慢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高峰期平均等待 &gt;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知识图谱自动检索 + 缓存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 b="0"/>
                        <a:t>检索式语义泛化弱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同义/口语化问题召回差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双塔句向量语义重排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 b="0"/>
                        <a:t>知识分散无统一表示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答案口径不一致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统一知识条目 + 实体对齐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研究现状与本文定位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规则与模板法：可解释性强，规则维护成本高、覆盖有限</a:t>
            </a:r>
          </a:p>
          <a:p>
            <a:r>
              <a:rPr sz="1100"/>
              <a:t>检索式（BM25）：响应快，同义改写与口语化问题表现差</a:t>
            </a:r>
          </a:p>
          <a:p>
            <a:r>
              <a:rPr sz="1100"/>
              <a:t>生成式大模型：表达自然，存在幻觉与知识时效问题</a:t>
            </a:r>
          </a:p>
          <a:p>
            <a:r>
              <a:rPr sz="1100"/>
              <a:t>本文定位：检索—重排—生成三段式流水线，兼顾准确率与可解释性</a:t>
            </a:r>
          </a:p>
          <a:p>
            <a:r>
              <a:rPr sz="1100"/>
              <a:t>【图表】方法对比矩阵（准确率 / 泛化 / 可解释 / 成本 四维打分）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763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/>
                        <a:t>技术路线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语义泛化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可解释性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维护成本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规则 / 模板法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检索式 BM25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生成式大模型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弱（幻觉）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本文三段式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强（引用溯源）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系统架构总览（四层结构 + 数据层）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系统架构自下而上：数据层 → 算法层 → 服务层 → 接口层 → 表现层</a:t>
            </a:r>
          </a:p>
          <a:p>
            <a:r>
              <a:rPr sz="1100"/>
              <a:t>表现层：Web 前端（问答交互、引用高亮、多轮会话）</a:t>
            </a:r>
          </a:p>
          <a:p>
            <a:r>
              <a:rPr sz="1100"/>
              <a:t>接口层：REST 网关（鉴权、限流、日志、统一响应封装）</a:t>
            </a:r>
          </a:p>
          <a:p>
            <a:r>
              <a:rPr sz="1100"/>
              <a:t>服务层：问答服务 / 知识管理 / 用户与权限</a:t>
            </a:r>
          </a:p>
          <a:p>
            <a:r>
              <a:rPr sz="1100"/>
              <a:t>算法层：意图识别→实体链接→图谱检索→语义重排→答案组装</a:t>
            </a:r>
          </a:p>
          <a:p>
            <a:r>
              <a:rPr sz="1100"/>
              <a:t>数据层：MySQL + Neo4j + Redis；Docker + Nginx 部署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763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r>
                        <a:rPr sz="900" b="1"/>
                        <a:t>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核心组件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技术选型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 b="0"/>
                        <a:t>表现层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问答交互 / 引用高亮 / 多轮会话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Vue3 + ECharts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 b="0"/>
                        <a:t>接口层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鉴权、限流、日志、统一响应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Spring Boot + JWT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 b="0"/>
                        <a:t>服务层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问答服务 / 知识管理 / 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Spring Boot 微服务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 b="0"/>
                        <a:t>算法层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意图识别与实体链接 / 图谱检索 / 语义重排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PyTorch + FastAPI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900" b="0"/>
                        <a:t>数据层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业务库 / 图数据库 / 缓存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MySQL + Neo4j + Redis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关键业务流程（问答请求全链路）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① 前端提交问题 → ② 网关鉴权与限流 → ③ 意图识别与实体链接</a:t>
            </a:r>
          </a:p>
          <a:p>
            <a:r>
              <a:rPr sz="1100"/>
              <a:t>④ Neo4j 图谱检索子图 + MySQL 读取业务数据 → ⑤ 候选答案语义重排</a:t>
            </a:r>
          </a:p>
          <a:p>
            <a:r>
              <a:rPr sz="1100"/>
              <a:t>⑥ 答案组装与溯源标注 → ⑦ 结果写 Redis 缓存 → ⑧ 返回前端渲染</a:t>
            </a:r>
          </a:p>
          <a:p>
            <a:r>
              <a:rPr sz="1100"/>
              <a:t>异常分支：低置信度触发多轮澄清；图谱无命中回退知识库引导</a:t>
            </a:r>
          </a:p>
          <a:p>
            <a:r>
              <a:rPr sz="1100"/>
              <a:t>【图表】端到端时序图 + 各阶段平均耗时占比条形图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3977639"/>
          <a:ext cx="804672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数据库设计总览（ER 与表清单）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数据库设计原则：以三范式为主，读多写少字段适度冗余；统一软删除与审计字段</a:t>
            </a:r>
          </a:p>
          <a:p>
            <a:r>
              <a:rPr sz="1100"/>
              <a:t>ER 关系：用户 1—N 会话；会话 1—N 消息；知识条目 N—N 标签；问答记录 N—1 知识条目（用于溯源）</a:t>
            </a:r>
          </a:p>
          <a:p>
            <a:r>
              <a:rPr sz="1100"/>
              <a:t>表清单：user / session / message / knowledge_item / qa_log / tag</a:t>
            </a:r>
          </a:p>
          <a:p>
            <a:r>
              <a:rPr sz="1100"/>
              <a:t>索引策略：高频查询字段建组合索引，文本检索字段建全文索引</a:t>
            </a:r>
          </a:p>
          <a:p>
            <a:r>
              <a:rPr sz="1100"/>
              <a:t>【图表】ER 关系图 + 表清单表（表名 / 用途 / 关键索引）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763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6571">
                <a:tc>
                  <a:txBody>
                    <a:bodyPr/>
                    <a:lstStyle/>
                    <a:p>
                      <a:r>
                        <a:rPr sz="900" b="1"/>
                        <a:t>表名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关键索引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用户与角色权限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uk_username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多轮会话上下文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idx_user_id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/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会话消息明细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idx_session_id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/>
                        <a:t>knowledge_item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知识条目主表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ft_title_content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900" b="0"/>
                        <a:t>qa_log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问答日志与溯源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idx_session_id, idx_hit_item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900" b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知识标签（N—N）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/>
                        <a:t>uk_tag_name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核心表结构（字段与索引）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user：id PK、username 唯一索引、password_hash、role、created_at、deleted_at</a:t>
            </a:r>
          </a:p>
          <a:p>
            <a:r>
              <a:rPr sz="1100"/>
              <a:t>session：id PK、user_id FK 索引、title、last_active_at</a:t>
            </a:r>
          </a:p>
          <a:p>
            <a:r>
              <a:rPr sz="1100"/>
              <a:t>knowledge_item：id PK、title+content 全文索引、category_id、updated_at</a:t>
            </a:r>
          </a:p>
          <a:p>
            <a:r>
              <a:rPr sz="1100"/>
              <a:t>qa_log：id PK、session_id 索引、question、answer、hit_item_id、latency_ms、created_at</a:t>
            </a:r>
          </a:p>
          <a:p>
            <a:r>
              <a:rPr sz="1100"/>
              <a:t>【图表】核心表字段类型与约束表（字段 / 类型 / 约束 / 说明）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763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85750">
                <a:tc>
                  <a:txBody>
                    <a:bodyPr/>
                    <a:lstStyle/>
                    <a:p>
                      <a:r>
                        <a:rPr sz="1000" b="1"/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说明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PK, AUTO_INCREMENT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主键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FK, idx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所属用户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VARCHAR(128)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NOT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标题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FULLTEXT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正文，供检索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hit_item_id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BIGINT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FK, idx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命中知识条目，用于溯源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latency_ms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单次问答耗时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00" b="0"/>
                        <a:t>deleted_at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DEFAULT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软删除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模块设计（检索—重排—生成）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AI 模块输入层：问题分词、同义词扩展、多轮指代消解</a:t>
            </a:r>
          </a:p>
          <a:p>
            <a:r>
              <a:rPr sz="1100"/>
              <a:t>意图识别：BERT 微调四分类（事实型 / 操作型 / 闲聊 / 无关）</a:t>
            </a:r>
          </a:p>
          <a:p>
            <a:r>
              <a:rPr sz="1100"/>
              <a:t>实体链接：BiLSTM-CRF 抽取 + 图谱别名表对齐，未登录词回退编辑距离</a:t>
            </a:r>
          </a:p>
          <a:p>
            <a:r>
              <a:rPr sz="1100"/>
              <a:t>语义重排：双塔模型（BERT 句向量）计算问题—候选余弦相似度</a:t>
            </a:r>
          </a:p>
          <a:p>
            <a:r>
              <a:rPr sz="1100"/>
              <a:t>答案组装：Top-k 子图路径模板化生成，输出引用节点与置信度</a:t>
            </a:r>
          </a:p>
          <a:p>
            <a:r>
              <a:rPr sz="1100"/>
              <a:t>离线训练：知识库弱标注 + 人工校验 2k 条；交叉熵损失 + AdamW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77639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模型 / 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/>
                        <a:t>输出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意图识别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BERT 微调（四分类）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意图标签 + 置信度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实体链接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BiLSTM-CRF + 别名表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实体 ID 与图谱节点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语义重排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双塔 BERT 句向量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候选答案排序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/>
                        <a:t>答案组装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子图路径模板化生成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答案 + 引用 + 置信度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模块效果评测与系统测试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0432"/>
            <a:ext cx="8229600" cy="2651760"/>
          </a:xfrm>
        </p:spPr>
        <p:txBody>
          <a:bodyPr/>
          <a:lstStyle/>
          <a:p>
            <a:r>
              <a:rPr sz="1100"/>
              <a:t>评测指标：Top-1 准确率、MRR、平均响应时延</a:t>
            </a:r>
          </a:p>
          <a:p>
            <a:r>
              <a:rPr sz="1100"/>
              <a:t>对比设置：BM25 基线 vs 本文（图谱检索 + 双塔重排）</a:t>
            </a:r>
          </a:p>
          <a:p>
            <a:r>
              <a:rPr sz="1100"/>
              <a:t>结果：Top-1 由 0.62 提升至 0.78，MRR 由 0.51 提升至 0.69，P95 时延 1.32 s</a:t>
            </a:r>
          </a:p>
          <a:p>
            <a:r>
              <a:rPr sz="1100"/>
              <a:t>系统测试：功能用例 42 条全部通过，并发 100 请求下错误率 &lt; 0.5%</a:t>
            </a:r>
          </a:p>
          <a:p>
            <a:r>
              <a:rPr sz="1100"/>
              <a:t>【图表】指标对比柱状图 + 测试用例通过率表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3977639"/>
          <a:ext cx="804672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结论、创新点与展望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结论：系统架构、数据库设计与 AI 模块三部分协同，达成准确率与时延目标</a:t>
            </a:r>
          </a:p>
          <a:p>
            <a:r>
              <a:t>创新点：图谱子图约束 + 双塔重排的两级过滤，答案全程可溯源</a:t>
            </a:r>
          </a:p>
          <a:p>
            <a:r>
              <a:t>不足：长尾实体覆盖不足，多跳推理回答仍以路径模板为主</a:t>
            </a:r>
          </a:p>
          <a:p>
            <a:r>
              <a:t>展望：引入知识图谱嵌入与检索增强生成（RAG），扩展多语言与移动端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